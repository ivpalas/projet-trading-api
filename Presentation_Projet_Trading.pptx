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4" r:id="rId5"/>
    <p:sldId id="275" r:id="rId6"/>
    <p:sldId id="259" r:id="rId7"/>
    <p:sldId id="272" r:id="rId8"/>
    <p:sldId id="270" r:id="rId9"/>
    <p:sldId id="271" r:id="rId10"/>
    <p:sldId id="260" r:id="rId11"/>
    <p:sldId id="261" r:id="rId12"/>
    <p:sldId id="262" r:id="rId13"/>
    <p:sldId id="276" r:id="rId14"/>
    <p:sldId id="263" r:id="rId15"/>
    <p:sldId id="273" r:id="rId16"/>
    <p:sldId id="264" r:id="rId17"/>
    <p:sldId id="265" r:id="rId18"/>
    <p:sldId id="266" r:id="rId19"/>
    <p:sldId id="268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1959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projet de trading algorithmique sur la paire de devises GBP/USD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combine deux approches d'intelligence artificielle : le Machine Learning classique et le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Reinforcement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Learning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OHLC : 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Open, High, Low, Close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75694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étapes principales. 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Chargement des données</a:t>
            </a:r>
          </a:p>
          <a:p>
            <a:endParaRPr lang="en-US" dirty="0"/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l'agrégation en bougies de 15 minutes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OHLC : Open, High, Low, Close 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Nettoyage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contrôle qualité : Pas de Gaps inhabituels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681DE-0B2F-4AC3-FADE-275621AD3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7EF11A-822D-0094-1335-53E92CBC4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6546F9-689D-C6E2-B7FC-598C5E20B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B9FEA-CCB3-AD3C-A469-3F547DEA1F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597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A9914-EDBF-6D0B-A6A5-C9F17C857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D632F8-B81E-52E8-6283-C42E7DB58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B737E2-1AC4-6EB9-19A5-EDB0125055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33FD1-F04C-F0A3-6AF5-425B56723C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068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returns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 différentes périodes, le RSI qui mesure la force relative, le MACD pour détecter les changements de tendance, et les caractéristiques des bougies comme le body et les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wicks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moyennes mobiles exponentielles sur 20, 50 et 200 périodes, l'ATR qui mesure la volatilité, l'ADX pour la force de la tendance, et les écarts-types sur différentes fenêtres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cela dans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FastAPI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Buy &amp; Hold : 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acheter au début et garder jusqu'à la fin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marché était baissier cette année-là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Trading : décisions d'achat et de vente sont totalement aléatoires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stratégie classique basée sur le croisement de moyennes mobiles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Ces résultats négatifs confirment que le marché était difficile en 2022, et démontrent la nécessité d'approches plus sophistiquées basées sur le Machine Learning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Classique de 3 classes :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 pour une hausse attendue d'au moins 0,1%,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DOWN pour une baisse d'au moins 0,1%, HOLD pour rester neutre.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utilisant des lags, des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rolling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et tous les indicateurs techniques que j'ai mentionnés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développé un agent de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Reinforcement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Learning basé sur l'algorithme DQN - Deep Q-Network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L'architecture est un réseau de neurones avec deux couches cachées de 128 et 64 neurones (avec du dropout pour éviter l'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overfitting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et une sortie à 3 neurones pour les Q-values des 3 actions possibles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 : 3 possibilités (HOLD / BUY / SELL)</a:t>
            </a:r>
          </a:p>
          <a:p>
            <a:endParaRPr lang="en-US" dirty="0"/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L'entraînement s'est déroulé sur 20 épisodes en utilisant les données de 2022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dirty="0" err="1"/>
              <a:t>Null</a:t>
            </a:r>
            <a:r>
              <a:rPr lang="fr-FR" dirty="0"/>
              <a:t> : Return (-70%) / 10 000 -&gt; 3 000</a:t>
            </a:r>
          </a:p>
          <a:p>
            <a:r>
              <a:rPr lang="fr-FR" dirty="0" err="1"/>
              <a:t>Winrate</a:t>
            </a:r>
            <a:r>
              <a:rPr lang="fr-FR" dirty="0"/>
              <a:t> : environ 50%</a:t>
            </a:r>
          </a:p>
          <a:p>
            <a:endParaRPr lang="fr-FR" dirty="0"/>
          </a:p>
          <a:p>
            <a:r>
              <a:rPr lang="fr-FR" dirty="0"/>
              <a:t>Bien : Epsilon décroit</a:t>
            </a:r>
          </a:p>
          <a:p>
            <a:endParaRPr lang="fr-FR" dirty="0"/>
          </a:p>
          <a:p>
            <a:r>
              <a:rPr lang="fr-FR" dirty="0"/>
              <a:t>Contrôle Exploration vs Exploitation :</a:t>
            </a:r>
          </a:p>
          <a:p>
            <a:r>
              <a:rPr lang="fr-FR" dirty="0"/>
              <a:t>(entre action aléatoire et apprend)</a:t>
            </a:r>
          </a:p>
          <a:p>
            <a:endParaRPr lang="fr-FR" dirty="0"/>
          </a:p>
          <a:p>
            <a:r>
              <a:rPr lang="fr-FR" dirty="0"/>
              <a:t>L’agent </a:t>
            </a:r>
            <a:r>
              <a:rPr lang="fr-FR" dirty="0" err="1"/>
              <a:t>trade</a:t>
            </a:r>
            <a:r>
              <a:rPr lang="fr-FR" dirty="0"/>
              <a:t> trop </a:t>
            </a:r>
          </a:p>
        </p:txBody>
      </p:sp>
    </p:spTree>
    <p:extLst>
      <p:ext uri="{BB962C8B-B14F-4D97-AF65-F5344CB8AC3E}">
        <p14:creationId xmlns:p14="http://schemas.microsoft.com/office/powerpoint/2010/main" val="23326000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endpoints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REST avec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FastAPI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Logistic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Regression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Forest,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l'agent DQN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est documenté via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Swagger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Pandas, NumPy pour la manipulation de donnée</a:t>
            </a:r>
          </a:p>
          <a:p>
            <a:endParaRPr lang="en-US" dirty="0"/>
          </a:p>
          <a:p>
            <a:r>
              <a:rPr lang="en-US" dirty="0"/>
              <a:t>Format Excel et Parquet (</a:t>
            </a:r>
            <a:r>
              <a:rPr lang="en-US" dirty="0" err="1"/>
              <a:t>amélioré</a:t>
            </a:r>
            <a:r>
              <a:rPr lang="en-US" dirty="0"/>
              <a:t> </a:t>
            </a:r>
            <a:r>
              <a:rPr lang="en-US" dirty="0" err="1"/>
              <a:t>l’efficacité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ça c’est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dockerisée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ce qui garantit la reproductibilité et facilite le déploiement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PROJET DE TRADING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96167"/>
                </a:solidFill>
              </a:rPr>
              <a:t>GBP/USD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ADCFC"/>
                </a:solidFill>
              </a:rPr>
              <a:t>Machine Learning &amp; Reinforcement Learning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Ivin| Février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SOMMAIRE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A0E27"/>
                </a:solidFill>
              </a:rPr>
              <a:t>1. Vue d'ensemble du projet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A0E27"/>
                </a:solidFill>
              </a:rPr>
              <a:t>2. Pipeline de données (T01-T04)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A0E27"/>
                </a:solidFill>
              </a:rPr>
              <a:t>3. Features techniques (T05)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A0E27"/>
                </a:solidFill>
              </a:rPr>
              <a:t>4. Stratégies baseline (T06)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A0E27"/>
                </a:solidFill>
              </a:rPr>
              <a:t>5. Machine Learning (T07)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A0E27"/>
                </a:solidFill>
              </a:rPr>
              <a:t>6. Reinforcement Learning (T08)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A0E27"/>
                </a:solidFill>
              </a:rPr>
              <a:t>7. Production &amp; API (T09-T10)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A0E27"/>
                </a:solidFill>
              </a:rPr>
              <a:t>8. Résultats &amp; Conclusions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VUE D'ENSEMBLE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109728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E27"/>
                </a:solidFill>
              </a:rPr>
              <a:t>Objectif
</a:t>
            </a:r>
            <a:endParaRPr lang="en-US" sz="20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A0E27"/>
                </a:solidFill>
              </a:rPr>
              <a:t>Système de trading algorithmique</a:t>
            </a:r>
            <a:endParaRPr lang="en-US" sz="20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A0E27"/>
                </a:solidFill>
              </a:rPr>
              <a:t>pour GBP/USD (15 minutes)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754880" y="1188720"/>
            <a:ext cx="3657600" cy="109728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754880" y="11887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E27"/>
                </a:solidFill>
              </a:rPr>
              <a:t>Données
</a:t>
            </a:r>
            <a:endParaRPr lang="en-US" sz="20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A0E27"/>
                </a:solidFill>
              </a:rPr>
              <a:t>2022, 2023, 2024</a:t>
            </a:r>
            <a:endParaRPr lang="en-US" sz="20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A0E27"/>
                </a:solidFill>
              </a:rPr>
              <a:t>~70,000 bougies M15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3657600" cy="109728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E27"/>
                </a:solidFill>
              </a:rPr>
              <a:t>Technologies
</a:t>
            </a:r>
            <a:endParaRPr lang="en-US" sz="20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A0E27"/>
                </a:solidFill>
              </a:rPr>
              <a:t>Python, FastAPI, PyTorch</a:t>
            </a:r>
            <a:endParaRPr lang="en-US" sz="20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A0E27"/>
                </a:solidFill>
              </a:rPr>
              <a:t>scikit-learn, XGBoost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754880" y="2560320"/>
            <a:ext cx="3657600" cy="109728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754880" y="25603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Résultat
</a:t>
            </a:r>
            <a:endParaRPr lang="en-US" sz="20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+297% de return</a:t>
            </a:r>
            <a:endParaRPr lang="en-US" sz="20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sur 2024 !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6167"/>
                </a:solidFill>
              </a:rPr>
              <a:t>🎯 Meilleur modèle : Logistic Regression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ED95D3E-976B-920C-EBA5-B0786BEEC39F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VUE D'ENSEMBLE (structure du </a:t>
            </a:r>
            <a:r>
              <a:rPr lang="en-US" sz="3600" b="1" dirty="0" err="1">
                <a:solidFill>
                  <a:srgbClr val="1E2761"/>
                </a:solidFill>
              </a:rPr>
              <a:t>projet</a:t>
            </a:r>
            <a:r>
              <a:rPr lang="en-US" sz="3600" b="1" dirty="0">
                <a:solidFill>
                  <a:srgbClr val="1E2761"/>
                </a:solidFill>
              </a:rPr>
              <a:t>)</a:t>
            </a:r>
            <a:endParaRPr lang="en-US" sz="3600" dirty="0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177CA1C9-65CD-BD34-91E9-61E5DB46C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5213956"/>
              </p:ext>
            </p:extLst>
          </p:nvPr>
        </p:nvGraphicFramePr>
        <p:xfrm>
          <a:off x="281354" y="923972"/>
          <a:ext cx="8510954" cy="24749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4522">
                  <a:extLst>
                    <a:ext uri="{9D8B030D-6E8A-4147-A177-3AD203B41FA5}">
                      <a16:colId xmlns:a16="http://schemas.microsoft.com/office/drawing/2014/main" val="1220924399"/>
                    </a:ext>
                  </a:extLst>
                </a:gridCol>
                <a:gridCol w="5816432">
                  <a:extLst>
                    <a:ext uri="{9D8B030D-6E8A-4147-A177-3AD203B41FA5}">
                      <a16:colId xmlns:a16="http://schemas.microsoft.com/office/drawing/2014/main" val="2905171121"/>
                    </a:ext>
                  </a:extLst>
                </a:gridCol>
              </a:tblGrid>
              <a:tr h="318199">
                <a:tc>
                  <a:txBody>
                    <a:bodyPr/>
                    <a:lstStyle/>
                    <a:p>
                      <a:r>
                        <a:rPr lang="fr-FR" dirty="0" err="1"/>
                        <a:t>FastAPI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Commentaire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459022"/>
                  </a:ext>
                </a:extLst>
              </a:tr>
              <a:tr h="318199">
                <a:tc>
                  <a:txBody>
                    <a:bodyPr/>
                    <a:lstStyle/>
                    <a:p>
                      <a:r>
                        <a:rPr lang="fr-FR" sz="1400" dirty="0"/>
                        <a:t>Data (3 </a:t>
                      </a:r>
                      <a:r>
                        <a:rPr lang="fr-FR" sz="1400" dirty="0" err="1"/>
                        <a:t>endpoints</a:t>
                      </a:r>
                      <a:r>
                        <a:rPr lang="fr-FR" sz="1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Récupération, statistique simple, Liste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38234"/>
                  </a:ext>
                </a:extLst>
              </a:tr>
              <a:tr h="318199">
                <a:tc>
                  <a:txBody>
                    <a:bodyPr/>
                    <a:lstStyle/>
                    <a:p>
                      <a:r>
                        <a:rPr lang="fr-FR" sz="1400" dirty="0"/>
                        <a:t>Données M15 (3 </a:t>
                      </a:r>
                      <a:r>
                        <a:rPr lang="fr-FR" sz="1400" dirty="0" err="1"/>
                        <a:t>endpoints</a:t>
                      </a:r>
                      <a:r>
                        <a:rPr lang="fr-FR" sz="1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Bougies OHLC, Stats sur les bougies (volume, etc.), Années de données M15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25244"/>
                  </a:ext>
                </a:extLst>
              </a:tr>
              <a:tr h="318199">
                <a:tc>
                  <a:txBody>
                    <a:bodyPr/>
                    <a:lstStyle/>
                    <a:p>
                      <a:r>
                        <a:rPr lang="fr-FR" sz="1400" dirty="0" err="1"/>
                        <a:t>Features</a:t>
                      </a:r>
                      <a:r>
                        <a:rPr lang="fr-FR" sz="1400" dirty="0"/>
                        <a:t> (2 </a:t>
                      </a:r>
                      <a:r>
                        <a:rPr lang="fr-FR" sz="1400" dirty="0" err="1"/>
                        <a:t>endpoints</a:t>
                      </a:r>
                      <a:r>
                        <a:rPr lang="fr-FR" sz="1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Liste des 20+ </a:t>
                      </a:r>
                      <a:r>
                        <a:rPr lang="fr-FR" sz="1400" dirty="0" err="1"/>
                        <a:t>features</a:t>
                      </a:r>
                      <a:r>
                        <a:rPr lang="fr-FR" sz="1400" dirty="0"/>
                        <a:t> disponibles (RSI, MACD, EMA, etc.), Calcul des </a:t>
                      </a:r>
                      <a:r>
                        <a:rPr lang="fr-FR" sz="1400" dirty="0" err="1"/>
                        <a:t>features</a:t>
                      </a:r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727059"/>
                  </a:ext>
                </a:extLst>
              </a:tr>
              <a:tr h="444607">
                <a:tc>
                  <a:txBody>
                    <a:bodyPr/>
                    <a:lstStyle/>
                    <a:p>
                      <a:r>
                        <a:rPr lang="fr-FR" sz="1400" dirty="0" err="1"/>
                        <a:t>Strategies</a:t>
                      </a:r>
                      <a:r>
                        <a:rPr lang="fr-FR" sz="1400" dirty="0"/>
                        <a:t> (2 </a:t>
                      </a:r>
                      <a:r>
                        <a:rPr lang="fr-FR" sz="1400" dirty="0" err="1"/>
                        <a:t>endpoints</a:t>
                      </a:r>
                      <a:r>
                        <a:rPr lang="fr-FR" sz="1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Liste des stratégies (</a:t>
                      </a:r>
                      <a:r>
                        <a:rPr lang="fr-FR" sz="1400" dirty="0" err="1"/>
                        <a:t>Buy&amp;Hold</a:t>
                      </a:r>
                      <a:r>
                        <a:rPr lang="fr-FR" sz="1400" dirty="0"/>
                        <a:t>, </a:t>
                      </a:r>
                      <a:r>
                        <a:rPr lang="fr-FR" sz="1400" dirty="0" err="1"/>
                        <a:t>Random</a:t>
                      </a:r>
                      <a:r>
                        <a:rPr lang="fr-FR" sz="1400" dirty="0"/>
                        <a:t>, SMA), Tester une stratégie sur 1 période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736000"/>
                  </a:ext>
                </a:extLst>
              </a:tr>
              <a:tr h="318199">
                <a:tc>
                  <a:txBody>
                    <a:bodyPr/>
                    <a:lstStyle/>
                    <a:p>
                      <a:r>
                        <a:rPr lang="fr-FR" sz="1400" dirty="0" err="1"/>
                        <a:t>Predictions</a:t>
                      </a:r>
                      <a:r>
                        <a:rPr lang="fr-FR" sz="1400" dirty="0"/>
                        <a:t> (5 </a:t>
                      </a:r>
                      <a:r>
                        <a:rPr lang="fr-FR" sz="1400" dirty="0" err="1"/>
                        <a:t>endpoints</a:t>
                      </a:r>
                      <a:r>
                        <a:rPr lang="fr-FR" sz="1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Prédiction (unique, multiple), Liste modèles, Vérification des modèles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494772"/>
                  </a:ext>
                </a:extLst>
              </a:tr>
              <a:tr h="318199">
                <a:tc>
                  <a:txBody>
                    <a:bodyPr/>
                    <a:lstStyle/>
                    <a:p>
                      <a:r>
                        <a:rPr lang="fr-FR" sz="1400" dirty="0"/>
                        <a:t>Versioning (8 </a:t>
                      </a:r>
                      <a:r>
                        <a:rPr lang="fr-FR" sz="1400" dirty="0" err="1"/>
                        <a:t>endpoints</a:t>
                      </a:r>
                      <a:r>
                        <a:rPr lang="fr-FR" sz="1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Vérification, enregistrer des versions, log…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679511"/>
                  </a:ext>
                </a:extLst>
              </a:tr>
            </a:tbl>
          </a:graphicData>
        </a:graphic>
      </p:graphicFrame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FF644B3E-041A-B526-1781-78221F632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470782"/>
              </p:ext>
            </p:extLst>
          </p:nvPr>
        </p:nvGraphicFramePr>
        <p:xfrm>
          <a:off x="281354" y="3398887"/>
          <a:ext cx="8510954" cy="13203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4522">
                  <a:extLst>
                    <a:ext uri="{9D8B030D-6E8A-4147-A177-3AD203B41FA5}">
                      <a16:colId xmlns:a16="http://schemas.microsoft.com/office/drawing/2014/main" val="1220924399"/>
                    </a:ext>
                  </a:extLst>
                </a:gridCol>
                <a:gridCol w="5816432">
                  <a:extLst>
                    <a:ext uri="{9D8B030D-6E8A-4147-A177-3AD203B41FA5}">
                      <a16:colId xmlns:a16="http://schemas.microsoft.com/office/drawing/2014/main" val="2905171121"/>
                    </a:ext>
                  </a:extLst>
                </a:gridCol>
              </a:tblGrid>
              <a:tr h="318199">
                <a:tc>
                  <a:txBody>
                    <a:bodyPr/>
                    <a:lstStyle/>
                    <a:p>
                      <a:r>
                        <a:rPr lang="fr-FR" sz="1600" dirty="0"/>
                        <a:t>En fond (python/Notebook)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Commentaire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459022"/>
                  </a:ext>
                </a:extLst>
              </a:tr>
              <a:tr h="318199">
                <a:tc>
                  <a:txBody>
                    <a:bodyPr/>
                    <a:lstStyle/>
                    <a:p>
                      <a:r>
                        <a:rPr lang="fr-FR" sz="1400" dirty="0" err="1"/>
                        <a:t>Cleaning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Transformation, vérification, suppression des données brutes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38234"/>
                  </a:ext>
                </a:extLst>
              </a:tr>
              <a:tr h="318199">
                <a:tc>
                  <a:txBody>
                    <a:bodyPr/>
                    <a:lstStyle/>
                    <a:p>
                      <a:r>
                        <a:rPr lang="fr-FR" sz="1400" dirty="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Test des modèles (ML et RL)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25244"/>
                  </a:ext>
                </a:extLst>
              </a:tr>
              <a:tr h="318199">
                <a:tc>
                  <a:txBody>
                    <a:bodyPr/>
                    <a:lstStyle/>
                    <a:p>
                      <a:r>
                        <a:rPr lang="fr-FR" sz="1400" dirty="0"/>
                        <a:t>Visualisation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Visualisation des données, des modèles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727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3019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menu&#10;&#10;Le contenu généré par l’IA peut être incorrect.">
            <a:extLst>
              <a:ext uri="{FF2B5EF4-FFF2-40B4-BE49-F238E27FC236}">
                <a16:creationId xmlns:a16="http://schemas.microsoft.com/office/drawing/2014/main" id="{A2B03AF8-212B-7A34-265D-71EB9D687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991" y="1300249"/>
            <a:ext cx="4580017" cy="3063505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BFE574A2-3192-0C9D-2602-455BBDAF8A47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VUE D'ENSEMBLE (architecture)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851244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PIPELINE DE DONNÉES (T01-T04)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0E27"/>
                </a:solidFill>
              </a:rPr>
              <a:t>Chargement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A0E27"/>
                </a:solidFill>
              </a:rPr>
              <a:t>données brutes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280160" y="1600200"/>
            <a:ext cx="10972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468880" y="13716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4688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94560" y="20116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0E27"/>
                </a:solidFill>
              </a:rPr>
              <a:t>Agrégation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A0E27"/>
                </a:solidFill>
              </a:rPr>
              <a:t>M15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17520" y="1600200"/>
            <a:ext cx="10972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206240" y="13716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2062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20116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0E27"/>
                </a:solidFill>
              </a:rPr>
              <a:t>Nettoyage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A0E27"/>
                </a:solidFill>
              </a:rPr>
              <a:t>des données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600200"/>
            <a:ext cx="10972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5943600" y="13716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9436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0" y="20116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0E27"/>
                </a:solidFill>
              </a:rPr>
              <a:t>Contrôle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A0E27"/>
                </a:solidFill>
              </a:rPr>
              <a:t>qualité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2743201"/>
            <a:ext cx="7680960" cy="187091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1371600" y="3200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0E27"/>
                </a:solidFill>
              </a:rPr>
              <a:t>✓ </a:t>
            </a:r>
            <a:r>
              <a:rPr lang="en-US" sz="1400" dirty="0">
                <a:solidFill>
                  <a:srgbClr val="0A0E27"/>
                </a:solidFill>
              </a:rPr>
              <a:t>Aucune valeur manquante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A0E27"/>
                </a:solidFill>
              </a:rPr>
              <a:t>✓ </a:t>
            </a:r>
            <a:r>
              <a:rPr lang="en-US" sz="1400" dirty="0" err="1">
                <a:solidFill>
                  <a:srgbClr val="0A0E27"/>
                </a:solidFill>
              </a:rPr>
              <a:t>Aucun</a:t>
            </a:r>
            <a:r>
              <a:rPr lang="en-US" sz="1400" dirty="0">
                <a:solidFill>
                  <a:srgbClr val="0A0E27"/>
                </a:solidFill>
              </a:rPr>
              <a:t> </a:t>
            </a:r>
            <a:r>
              <a:rPr lang="en-US" sz="1400" dirty="0" err="1">
                <a:solidFill>
                  <a:srgbClr val="0A0E27"/>
                </a:solidFill>
              </a:rPr>
              <a:t>doublon</a:t>
            </a:r>
            <a:r>
              <a:rPr lang="en-US" sz="1400" dirty="0">
                <a:solidFill>
                  <a:srgbClr val="0A0E27"/>
                </a:solidFill>
              </a:rPr>
              <a:t>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A0E27"/>
                </a:solidFill>
              </a:rPr>
              <a:t>✓ </a:t>
            </a:r>
            <a:r>
              <a:rPr lang="en-US" sz="1400" dirty="0">
                <a:solidFill>
                  <a:srgbClr val="0A0E27"/>
                </a:solidFill>
              </a:rPr>
              <a:t>~70,000 bougies de 15 minutes (2022-2024)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TRAITEMENT DES DONNÉES (T02-T04)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65760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1. Agrégation M15 (T02)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E27"/>
                </a:solidFill>
              </a:rPr>
              <a:t>Paramètres OHLC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0A0E27"/>
                </a:solidFill>
              </a:rPr>
              <a:t>• Timeframe : </a:t>
            </a:r>
            <a:r>
              <a:rPr lang="en-US" sz="1200" b="1" dirty="0">
                <a:solidFill>
                  <a:srgbClr val="0A0E27"/>
                </a:solidFill>
              </a:rPr>
              <a:t>15 minutes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0A0E27"/>
                </a:solidFill>
              </a:rPr>
              <a:t>• Open : Premier prix de la </a:t>
            </a:r>
            <a:r>
              <a:rPr lang="en-US" sz="1200" dirty="0" err="1">
                <a:solidFill>
                  <a:srgbClr val="0A0E27"/>
                </a:solidFill>
              </a:rPr>
              <a:t>période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0A0E27"/>
                </a:solidFill>
              </a:rPr>
              <a:t>• High : Prix maximum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0A0E27"/>
                </a:solidFill>
              </a:rPr>
              <a:t>• Low : Prix minimum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0A0E27"/>
                </a:solidFill>
              </a:rPr>
              <a:t>• Close : Dernier prix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0A0E27"/>
                </a:solidFill>
              </a:rPr>
              <a:t>• Volume : Somme des volumes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65760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754880" y="1097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2. Nettoyage (T03)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1909689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A0E27"/>
                </a:solidFill>
              </a:rPr>
              <a:t>Doublons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A0E27"/>
                </a:solidFill>
              </a:rPr>
              <a:t>• </a:t>
            </a:r>
            <a:r>
              <a:rPr lang="en-US" sz="1200" b="1" dirty="0">
                <a:solidFill>
                  <a:srgbClr val="00AA00"/>
                </a:solidFill>
              </a:rPr>
              <a:t>0 doublon </a:t>
            </a:r>
            <a:r>
              <a:rPr lang="en-US" sz="1200" b="1" dirty="0" err="1">
                <a:solidFill>
                  <a:srgbClr val="00AA00"/>
                </a:solidFill>
              </a:rPr>
              <a:t>détecté</a:t>
            </a:r>
            <a:r>
              <a:rPr lang="en-US" sz="1400" dirty="0">
                <a:solidFill>
                  <a:srgbClr val="00AA00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A0E27"/>
                </a:solidFill>
              </a:rPr>
              <a:t>Valeurs </a:t>
            </a:r>
            <a:r>
              <a:rPr lang="en-US" sz="1400" b="1" dirty="0" err="1">
                <a:solidFill>
                  <a:srgbClr val="0A0E27"/>
                </a:solidFill>
              </a:rPr>
              <a:t>manquantes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A0E27"/>
                </a:solidFill>
              </a:rPr>
              <a:t>• </a:t>
            </a:r>
            <a:r>
              <a:rPr lang="en-US" sz="1200" b="1" dirty="0">
                <a:solidFill>
                  <a:srgbClr val="00AA00"/>
                </a:solidFill>
              </a:rPr>
              <a:t>0 valeur </a:t>
            </a:r>
            <a:r>
              <a:rPr lang="en-US" sz="1200" b="1" dirty="0" err="1">
                <a:solidFill>
                  <a:srgbClr val="00AA00"/>
                </a:solidFill>
              </a:rPr>
              <a:t>manquante</a:t>
            </a:r>
            <a:r>
              <a:rPr lang="en-US" sz="1400" dirty="0">
                <a:solidFill>
                  <a:srgbClr val="00AA00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A0E27"/>
                </a:solidFill>
              </a:rPr>
              <a:t>Valeurs </a:t>
            </a:r>
            <a:r>
              <a:rPr lang="en-US" sz="1400" b="1" dirty="0" err="1">
                <a:solidFill>
                  <a:srgbClr val="0A0E27"/>
                </a:solidFill>
              </a:rPr>
              <a:t>atypiques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0A0E27"/>
                </a:solidFill>
              </a:rPr>
              <a:t>• </a:t>
            </a:r>
            <a:r>
              <a:rPr lang="en-US" sz="1200" i="1" dirty="0">
                <a:solidFill>
                  <a:srgbClr val="0A0E27"/>
                </a:solidFill>
              </a:rPr>
              <a:t>Pas de suppression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0A0E27"/>
                </a:solidFill>
              </a:rPr>
              <a:t>• </a:t>
            </a:r>
            <a:r>
              <a:rPr lang="en-US" sz="1100" i="1" dirty="0">
                <a:solidFill>
                  <a:srgbClr val="0A0E27"/>
                </a:solidFill>
              </a:rPr>
              <a:t>Conservation des pics réels du </a:t>
            </a:r>
            <a:r>
              <a:rPr lang="en-US" sz="1100" i="1" dirty="0" err="1">
                <a:solidFill>
                  <a:srgbClr val="0A0E27"/>
                </a:solidFill>
              </a:rPr>
              <a:t>marché</a:t>
            </a:r>
            <a:endParaRPr lang="en-US" sz="1100" i="1" dirty="0">
              <a:solidFill>
                <a:srgbClr val="0A0E27"/>
              </a:solidFill>
            </a:endParaRPr>
          </a:p>
          <a:p>
            <a:r>
              <a:rPr lang="en-US" sz="1400" b="1" dirty="0">
                <a:solidFill>
                  <a:srgbClr val="0A0E27"/>
                </a:solidFill>
              </a:rPr>
              <a:t>Bougies incompletes</a:t>
            </a:r>
          </a:p>
          <a:p>
            <a:r>
              <a:rPr lang="en-US" sz="1100" i="1" dirty="0">
                <a:solidFill>
                  <a:srgbClr val="0A0E27"/>
                </a:solidFill>
              </a:rPr>
              <a:t>• Suppressions de 1,6% (8/15 minimum)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566160"/>
            <a:ext cx="7680960" cy="109728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731520" y="357319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3. Contrôle Qualité (T04)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8893" y="3938954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A00"/>
                </a:solidFill>
              </a:rPr>
              <a:t> </a:t>
            </a:r>
            <a:r>
              <a:rPr lang="en-US" sz="1300" b="1" dirty="0">
                <a:solidFill>
                  <a:srgbClr val="0A0E27"/>
                </a:solidFill>
              </a:rPr>
              <a:t>Cohérence OHLC : </a:t>
            </a:r>
            <a:r>
              <a:rPr lang="en-US" sz="1300" dirty="0">
                <a:solidFill>
                  <a:srgbClr val="0A0E27"/>
                </a:solidFill>
              </a:rPr>
              <a:t>Low ≤ Open, Close ≤ High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AA00"/>
                </a:solidFill>
              </a:rPr>
              <a:t> </a:t>
            </a:r>
            <a:r>
              <a:rPr lang="en-US" sz="1300" b="1" dirty="0">
                <a:solidFill>
                  <a:srgbClr val="0A0E27"/>
                </a:solidFill>
              </a:rPr>
              <a:t>Continuité temporelle : </a:t>
            </a:r>
            <a:r>
              <a:rPr lang="en-US" sz="1300" dirty="0">
                <a:solidFill>
                  <a:srgbClr val="0A0E27"/>
                </a:solidFill>
              </a:rPr>
              <a:t>Pas de gap (15 min </a:t>
            </a:r>
            <a:r>
              <a:rPr lang="en-US" sz="1300" dirty="0" err="1">
                <a:solidFill>
                  <a:srgbClr val="0A0E27"/>
                </a:solidFill>
              </a:rPr>
              <a:t>réguliers</a:t>
            </a:r>
            <a:r>
              <a:rPr lang="en-US" sz="1300" dirty="0">
                <a:solidFill>
                  <a:srgbClr val="0A0E27"/>
                </a:solidFill>
              </a:rPr>
              <a:t>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AA00"/>
                </a:solidFill>
              </a:rPr>
              <a:t> </a:t>
            </a:r>
            <a:r>
              <a:rPr lang="en-US" sz="1300" b="1" dirty="0">
                <a:solidFill>
                  <a:srgbClr val="0A0E27"/>
                </a:solidFill>
              </a:rPr>
              <a:t>Volume positif : </a:t>
            </a:r>
            <a:r>
              <a:rPr lang="en-US" sz="1300" dirty="0">
                <a:solidFill>
                  <a:srgbClr val="0A0E27"/>
                </a:solidFill>
              </a:rPr>
              <a:t>Toutes les bougies ont un volume &gt; 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8893" y="4673991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7"/>
                </a:solidFill>
              </a:rPr>
              <a:t>🎯 Résultat : ~70,000 bougies M15 propres et validées (2022-2024)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0DAAC9-0764-4D10-87FE-876E0BA9A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D32D988-709B-01B0-E5CC-F6B723A2234C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PIPELINE DE DONNÉES (T01-T04)</a:t>
            </a:r>
            <a:endParaRPr lang="en-US" sz="3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4256F3E-C04B-2E9B-0680-E9B6815D9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046" y="1155066"/>
            <a:ext cx="7877908" cy="3121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4208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B7F7E6-E425-89E0-4F97-23FED7300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CD8FA30-81BA-B527-C5C9-819FC4F53123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PIPELINE DE DONNÉES (T01-T04)</a:t>
            </a:r>
            <a:endParaRPr lang="en-US" sz="36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FF8990F-039F-4C40-7971-8B904530A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73125"/>
            <a:ext cx="9144000" cy="339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9661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FEATURES TECHNIQUES (T05)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20+ Indicateurs Techniques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E27"/>
                </a:solidFill>
              </a:rPr>
              <a:t>Prix &amp; Momentum
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0A0E27"/>
                </a:solidFill>
              </a:rPr>
              <a:t>• Returns (1, 4 périodes)
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0A0E27"/>
                </a:solidFill>
              </a:rPr>
              <a:t>• RSI (14)
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0A0E27"/>
                </a:solidFill>
              </a:rPr>
              <a:t>• MACD &amp; Signal
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0A0E27"/>
                </a:solidFill>
              </a:rPr>
              <a:t>• Body, Wicks
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210312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E27"/>
                </a:solidFill>
              </a:rPr>
              <a:t>Trend &amp; Volatilité
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0A0E27"/>
                </a:solidFill>
              </a:rPr>
              <a:t>• EMAs (20, 50, 200)
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0A0E27"/>
                </a:solidFill>
              </a:rPr>
              <a:t>• ATR (14)
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0A0E27"/>
                </a:solidFill>
              </a:rPr>
              <a:t>• ADX (14)
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0A0E27"/>
                </a:solidFill>
              </a:rPr>
              <a:t>• Rolling Std (20, 100)
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API FastAPI pour calcul automatique des features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STRATÉGIES BASELINE (T06)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A0E27"/>
                </a:solidFill>
              </a:rPr>
              <a:t>Test sur 2022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645920"/>
          <a:ext cx="6400800" cy="182880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A0E27"/>
                          </a:solidFill>
                        </a:rPr>
                        <a:t>Stratégie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A0E27"/>
                          </a:solidFill>
                        </a:rPr>
                        <a:t>Return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A0E27"/>
                          </a:solidFill>
                        </a:rPr>
                        <a:t>Conclusion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A0E27"/>
                          </a:solidFill>
                        </a:rPr>
                        <a:t>Buy &amp; Hold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C0000"/>
                          </a:solidFill>
                        </a:rPr>
                        <a:t>-10.21%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A0E27"/>
                          </a:solidFill>
                        </a:rPr>
                        <a:t>Marché baissier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A0E27"/>
                          </a:solidFill>
                        </a:rPr>
                        <a:t>Random Trading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C0000"/>
                          </a:solidFill>
                        </a:rPr>
                        <a:t>-7.99%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A0E27"/>
                          </a:solidFill>
                        </a:rPr>
                        <a:t>Pas viable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A0E27"/>
                          </a:solidFill>
                        </a:rPr>
                        <a:t>SMA Crossover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C0000"/>
                          </a:solidFill>
                        </a:rPr>
                        <a:t>-5.67%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A0E27"/>
                          </a:solidFill>
                        </a:rPr>
                        <a:t>Peu performant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6167"/>
                </a:solidFill>
              </a:rPr>
              <a:t>→ Nécessité d'approches ML plus sophistiquées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MACHINE LEARNING (T07)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A0E27"/>
                </a:solidFill>
              </a:rPr>
              <a:t>Approche : Classification 3 classes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371600" y="146304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E27"/>
                </a:solidFill>
              </a:rPr>
              <a:t>Target: </a:t>
            </a:r>
            <a:r>
              <a:rPr lang="en-US" sz="1400" dirty="0">
                <a:solidFill>
                  <a:srgbClr val="0A0E27"/>
                </a:solidFill>
              </a:rPr>
              <a:t>UP (+0.1%), HOLD (±0.1%), DOWN (-0.1%)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A0E27"/>
                </a:solidFill>
              </a:rPr>
              <a:t>Features: </a:t>
            </a:r>
            <a:r>
              <a:rPr lang="en-US" sz="1400" dirty="0">
                <a:solidFill>
                  <a:srgbClr val="0A0E27"/>
                </a:solidFill>
              </a:rPr>
              <a:t>100+ features (lag, rolling, indicateurs)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A0E27"/>
                </a:solidFill>
              </a:rPr>
              <a:t>Train : </a:t>
            </a:r>
            <a:r>
              <a:rPr lang="en-US" sz="1400" dirty="0">
                <a:solidFill>
                  <a:srgbClr val="0A0E27"/>
                </a:solidFill>
              </a:rPr>
              <a:t>2022 | </a:t>
            </a:r>
            <a:r>
              <a:rPr lang="en-US" sz="1400" b="1" dirty="0">
                <a:solidFill>
                  <a:srgbClr val="0A0E27"/>
                </a:solidFill>
              </a:rPr>
              <a:t>Validation : </a:t>
            </a:r>
            <a:r>
              <a:rPr lang="en-US" sz="1400" dirty="0">
                <a:solidFill>
                  <a:srgbClr val="0A0E27"/>
                </a:solidFill>
              </a:rPr>
              <a:t>2023 | </a:t>
            </a:r>
            <a:r>
              <a:rPr lang="en-US" sz="1400" b="1" dirty="0">
                <a:solidFill>
                  <a:srgbClr val="0A0E27"/>
                </a:solidFill>
              </a:rPr>
              <a:t>Test : </a:t>
            </a:r>
            <a:r>
              <a:rPr lang="en-US" sz="1400" dirty="0">
                <a:solidFill>
                  <a:srgbClr val="0A0E27"/>
                </a:solidFill>
              </a:rPr>
              <a:t>2024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710982"/>
              </p:ext>
            </p:extLst>
          </p:nvPr>
        </p:nvGraphicFramePr>
        <p:xfrm>
          <a:off x="731520" y="2834640"/>
          <a:ext cx="7680960" cy="13716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A0E27"/>
                          </a:solidFill>
                        </a:rPr>
                        <a:t>Modèle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A0E27"/>
                          </a:solidFill>
                        </a:rPr>
                        <a:t>Return 2024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A0E27"/>
                          </a:solidFill>
                        </a:rPr>
                        <a:t>Trades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A0E27"/>
                          </a:solidFill>
                        </a:rPr>
                        <a:t>Win Rate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A0E27"/>
                          </a:solidFill>
                        </a:rPr>
                        <a:t>Logistic Regression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AA00"/>
                          </a:solidFill>
                        </a:rPr>
                        <a:t>+297.54%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A0E27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A0E27"/>
                          </a:solidFill>
                        </a:rPr>
                        <a:t>50,65 %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A0E27"/>
                          </a:solidFill>
                        </a:rPr>
                        <a:t>Random Forest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1200" dirty="0">
                          <a:solidFill>
                            <a:srgbClr val="CC0000"/>
                          </a:solidFill>
                          <a:latin typeface="+mn-lt"/>
                          <a:ea typeface="+mn-ea"/>
                          <a:cs typeface="+mn-cs"/>
                        </a:rPr>
                        <a:t>-7,99%</a:t>
                      </a:r>
                    </a:p>
                  </a:txBody>
                  <a:tcPr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A0E27"/>
                          </a:solidFill>
                        </a:rPr>
                        <a:t>4 915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A0E27"/>
                          </a:solidFill>
                        </a:rPr>
                        <a:t>49,30 %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A0E27"/>
                          </a:solidFill>
                        </a:rPr>
                        <a:t>XGBoost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C0000"/>
                          </a:solidFill>
                        </a:rPr>
                        <a:t>-0.14%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A0E27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A0E27"/>
                          </a:solidFill>
                        </a:rPr>
                        <a:t>0%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4389120"/>
            <a:ext cx="7680960" cy="5486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6" name="Text 5"/>
          <p:cNvSpPr/>
          <p:nvPr/>
        </p:nvSpPr>
        <p:spPr>
          <a:xfrm>
            <a:off x="731520" y="43891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 Champion : Logistic Regression avec +297% !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2DE9EB4-3714-5580-F58C-C9A4B956180B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MACHINE LEARNING (T07)</a:t>
            </a:r>
            <a:endParaRPr lang="en-US" sz="36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695D319-DF5E-CDD3-6499-F0462DED309D}"/>
              </a:ext>
            </a:extLst>
          </p:cNvPr>
          <p:cNvSpPr txBox="1"/>
          <p:nvPr/>
        </p:nvSpPr>
        <p:spPr>
          <a:xfrm>
            <a:off x="3115993" y="1279088"/>
            <a:ext cx="58943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✓ Loaded test data (2024): 24831 rows </a:t>
            </a:r>
          </a:p>
          <a:p>
            <a:r>
              <a:rPr lang="en-US" dirty="0"/>
              <a:t>=== </a:t>
            </a:r>
            <a:r>
              <a:rPr lang="en-US" dirty="0" err="1"/>
              <a:t>Backtesting</a:t>
            </a:r>
            <a:r>
              <a:rPr lang="en-US" dirty="0"/>
              <a:t> </a:t>
            </a:r>
            <a:r>
              <a:rPr lang="en-US" dirty="0" err="1"/>
              <a:t>logistic_regression</a:t>
            </a:r>
            <a:r>
              <a:rPr lang="en-US" dirty="0"/>
              <a:t> === </a:t>
            </a:r>
          </a:p>
          <a:p>
            <a:r>
              <a:rPr lang="en-US" dirty="0"/>
              <a:t>Initial Capital: 10000.00 € </a:t>
            </a:r>
          </a:p>
          <a:p>
            <a:r>
              <a:rPr lang="en-US" dirty="0"/>
              <a:t>Final Capital: 39754.24 €</a:t>
            </a:r>
          </a:p>
          <a:p>
            <a:r>
              <a:rPr lang="en-US" dirty="0"/>
              <a:t>Total Return: 297.54%</a:t>
            </a:r>
          </a:p>
          <a:p>
            <a:r>
              <a:rPr lang="en-US" dirty="0"/>
              <a:t>Total Trades: 10 </a:t>
            </a:r>
          </a:p>
          <a:p>
            <a:r>
              <a:rPr lang="en-US" dirty="0"/>
              <a:t>Winning Trades: 2 / Losing Trades: 3 / Win Rate: 50,65 %</a:t>
            </a:r>
          </a:p>
          <a:p>
            <a:endParaRPr lang="en-US" dirty="0"/>
          </a:p>
          <a:p>
            <a:r>
              <a:rPr lang="en-US" dirty="0"/>
              <a:t> Signal Distribution: DOWN: 2 / HOLD: 24817 / UP: 12</a:t>
            </a:r>
            <a:endParaRPr lang="fr-FR" dirty="0"/>
          </a:p>
        </p:txBody>
      </p:sp>
      <p:pic>
        <p:nvPicPr>
          <p:cNvPr id="8" name="Image 7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25044C51-0E22-221B-4B57-71E996C00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137" y="1882080"/>
            <a:ext cx="1714649" cy="137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073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REINFORCEMENT LEARNING (T08)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640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Agent DQN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E27"/>
                </a:solidFill>
              </a:rPr>
              <a:t>Architecture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0A0E27"/>
                </a:solidFill>
              </a:rPr>
              <a:t>• Dense(128) + ReLU + Dropout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0A0E27"/>
                </a:solidFill>
              </a:rPr>
              <a:t>• Dense(64) + ReLU + Dropout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0A0E27"/>
                </a:solidFill>
              </a:rPr>
              <a:t>• Output(3) → Q-values
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657600" cy="640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Environnement Gym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20116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E27"/>
                </a:solidFill>
              </a:rPr>
              <a:t>Actions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0A0E27"/>
                </a:solidFill>
              </a:rPr>
              <a:t>• HOLD : Ne rien faire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0A0E27"/>
                </a:solidFill>
              </a:rPr>
              <a:t>• BUY : Position longue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0A0E27"/>
                </a:solidFill>
              </a:rPr>
              <a:t>• SELL : Position courte
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314701"/>
            <a:ext cx="7680960" cy="1524585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097280" y="356616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E27"/>
                </a:solidFill>
              </a:rPr>
              <a:t>Résultats
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0A0E27"/>
                </a:solidFill>
              </a:rPr>
              <a:t>• Training: 20 épisodes sur 2022 / Test : 2023
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0A0E27"/>
                </a:solidFill>
              </a:rPr>
              <a:t>• Performance variable selon hyperparamètres
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0A0E27"/>
                </a:solidFill>
              </a:rPr>
              <a:t>• </a:t>
            </a:r>
            <a:r>
              <a:rPr lang="en-US" sz="1300" b="1" dirty="0">
                <a:solidFill>
                  <a:srgbClr val="0A0E27"/>
                </a:solidFill>
              </a:rPr>
              <a:t>Challenge: </a:t>
            </a:r>
            <a:r>
              <a:rPr lang="en-US" sz="1300" dirty="0">
                <a:solidFill>
                  <a:srgbClr val="0A0E27"/>
                </a:solidFill>
              </a:rPr>
              <a:t>Tendance à overtrader (frais de transaction)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ABC0995-0D5C-F349-C25D-1001E5090760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REINFORCEMENT LEARNING (T08)</a:t>
            </a:r>
            <a:endParaRPr lang="en-US" sz="3600" dirty="0"/>
          </a:p>
        </p:txBody>
      </p:sp>
      <p:pic>
        <p:nvPicPr>
          <p:cNvPr id="4" name="Image 3" descr="Une image contenant texte, diagramme, ligne, Tracé&#10;&#10;Le contenu généré par l’IA peut être incorrect.">
            <a:extLst>
              <a:ext uri="{FF2B5EF4-FFF2-40B4-BE49-F238E27FC236}">
                <a16:creationId xmlns:a16="http://schemas.microsoft.com/office/drawing/2014/main" id="{47CB79CA-4F87-27F5-2D4A-1D961DAD3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37" y="858129"/>
            <a:ext cx="8352463" cy="4156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091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PRODUCTION &amp; API (T09-T10)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640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T09: Documentation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0E27"/>
                </a:solidFill>
              </a:rPr>
              <a:t>✓ README.md complet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A0E27"/>
                </a:solidFill>
              </a:rPr>
              <a:t>✓ Requirements unifié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A0E27"/>
                </a:solidFill>
              </a:rPr>
              <a:t>✓ 3 notebooks Jupyter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A0E27"/>
                </a:solidFill>
              </a:rPr>
              <a:t>✓ .gitignore optimisé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657600" cy="640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T10: API de Prédiction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20640" y="20116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0E27"/>
                </a:solidFill>
              </a:rPr>
              <a:t>✓ 5 endpoints REST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A0E27"/>
                </a:solidFill>
              </a:rPr>
              <a:t>✓ 4 modèles chargés en mémoire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A0E27"/>
                </a:solidFill>
              </a:rPr>
              <a:t>✓ Latence: 3ms par prédiction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A0E27"/>
                </a:solidFill>
              </a:rPr>
              <a:t>✓ Health checks &amp; monitoring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383280"/>
            <a:ext cx="7680960" cy="118872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097280" y="356616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E27"/>
                </a:solidFill>
              </a:rPr>
              <a:t>Endpoints API
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0A0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/predictions/predict | POST /predictions/predict/batch
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0A0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/predictions/models | GET /predictions/health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RÉSULTATS FINAUX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96167"/>
                </a:solidFill>
              </a:rPr>
              <a:t>+297%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Return sur 2024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(Logistic Regression)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74720" y="16459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96167"/>
                </a:solidFill>
              </a:rPr>
              <a:t>4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347472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Modèles ML/RL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opérationnels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0" y="16459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96167"/>
                </a:solidFill>
              </a:rPr>
              <a:t>3ms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94360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Latence par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prédiction API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Comparaison avec baselines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</a:rPr>
              <a:t>Buy &amp; Hold: -10% | Random: -8% | SMA: -6% | ML: +297%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6167"/>
                </a:solidFill>
              </a:rPr>
              <a:t>Amélioration de +307 points vs meilleure baseline !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ARCHITECTURE TECHNIQUE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E27"/>
                </a:solidFill>
              </a:rPr>
              <a:t>Backend
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0A0E27"/>
                </a:solidFill>
              </a:rPr>
              <a:t>• FastAPI (API REST)
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0A0E27"/>
                </a:solidFill>
              </a:rPr>
              <a:t>• Pandas, NumPy (données)
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0A0E27"/>
                </a:solidFill>
              </a:rPr>
              <a:t>• Uvicorn (serveur ASGI)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54880" y="11887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E27"/>
                </a:solidFill>
              </a:rPr>
              <a:t>Machine Learning
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0A0E27"/>
                </a:solidFill>
              </a:rPr>
              <a:t>• scikit-learn (LogReg, RF)
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0A0E27"/>
                </a:solidFill>
              </a:rPr>
              <a:t>• XGBoost
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0A0E27"/>
                </a:solidFill>
              </a:rPr>
              <a:t>• PyTorch (DQN Agent)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E27"/>
                </a:solidFill>
              </a:rPr>
              <a:t>Visualisation
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0A0E27"/>
                </a:solidFill>
              </a:rPr>
              <a:t>• Matplotlib, Seaborn
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0A0E27"/>
                </a:solidFill>
              </a:rPr>
              <a:t>• Jupyter Notebooks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27432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E27"/>
                </a:solidFill>
              </a:rPr>
              <a:t>Data
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0A0E27"/>
                </a:solidFill>
              </a:rPr>
              <a:t>• Parquet (stockage)
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0A0E27"/>
                </a:solidFill>
              </a:rPr>
              <a:t>• ~70,000 bougies M15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MERCI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CADCFC"/>
                </a:solidFill>
              </a:rPr>
              <a:t>Questions 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Ivin| Projet Trading GBP/USD | Février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1494</Words>
  <Application>Microsoft Office PowerPoint</Application>
  <PresentationFormat>Affichage à l'écran (16:9)</PresentationFormat>
  <Paragraphs>288</Paragraphs>
  <Slides>19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2" baseType="lpstr">
      <vt:lpstr>Arial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Trading GBP/USD - ML &amp; RL</dc:title>
  <dc:subject>PptxGenJS Presentation</dc:subject>
  <dc:creator>Ivin Palas</dc:creator>
  <cp:lastModifiedBy>Ivin HERNIO</cp:lastModifiedBy>
  <cp:revision>6</cp:revision>
  <dcterms:created xsi:type="dcterms:W3CDTF">2026-02-13T09:46:56Z</dcterms:created>
  <dcterms:modified xsi:type="dcterms:W3CDTF">2026-02-13T14:17:59Z</dcterms:modified>
</cp:coreProperties>
</file>